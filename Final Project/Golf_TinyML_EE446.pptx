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F8A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Good</c:v>
                </c:pt>
                <c:pt idx="1">
                  <c:v>Ground</c:v>
                </c:pt>
                <c:pt idx="2">
                  <c:v>Top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94.9</c:v>
                </c:pt>
                <c:pt idx="1">
                  <c:v>90.9</c:v>
                </c:pt>
                <c:pt idx="2">
                  <c:v>60.3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E4-1C45-9A05-2760639326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B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AEF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B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667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One-sentence hook: we classify the sound of a golf swing into good/ground/top, fully on a microcontroller. Replace the team placeholders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Golfers lack objective contact feedback; the impact sound encodes it. TinyML lets it be always-on, private, cheap, no phone/cloud. Name the three shot types and their sounds.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Data. 3 classes, onboard mic at 48k resampled to 16k, ~76 real clips expanded by augmentation. Stress the 80/20 split with augmented data in training ONLY - that is why our test number is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overview. Walk left to right: mic, windowing, MFE features, 1D CNN, output - all on-device. 30 seconds, keep it moving.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model. Compact 1D-CNN over MFE features. 88.8% validation in full precision. Mention it is small by design so it survives quantization.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TinyML pipeline. The deployment path for the final model (Impulse 3): int8 PTQ, TFLite Micro, EON Compiler, Arduino library, flash. Fits the board easily: 11.8 KB RAM of 256 KB, 75.9 KB flash of 1 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Advanced component - this is the graded one. We built a custom augmentation pipeline and ran an ablation: aggressive aug overfit and wrecked Top; gentle aug generalized; EON autotune backfired and we reverted. Threshold tuning took test accuracy 61 -&gt; 74.5%.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Results. Three iterations: baseline (#1, 74.5% test), a lighter 250 ms compressed variant (#2, smallest but accuracy fell to 54.8%), and the final model (#3) at 79.4% test, AUC 0.93. The final fixed most of the Top problem, 48% up to 60%. Stress these are all held-out test numbers at the same 0.5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evidence. Show the Serial Monitor screenshot / board. State latency, RAM, flash. This is also your live demo - run a few swings if doing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Challenges. Pick two or three to narrate; do not read all six. The leakage-aware split and the augmentation fix are the strongest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Conclusion. What worked, what we learned, what is next. End on BLE-to-phone as the natural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References. Leave up briefly; mention the public Edge Impulse project link is live for graders.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00584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446  ·  TINYML FOR ULTRA LOW-POWER EDGE COMPUTING  ·  SPRING 2026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Golf Swing Sound Classification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31520" y="23957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Edge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31520" y="3429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TinyML audio classifier that tells a clean strike from a fat (ground) or topped shot — running entirely on an Arduino Nano 33 BLE Sense.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9808" y="4526280"/>
            <a:ext cx="2926080" cy="0"/>
          </a:xfrm>
          <a:prstGeom prst="line">
            <a:avLst/>
          </a:prstGeom>
          <a:noFill/>
          <a:ln w="19050">
            <a:solidFill>
              <a:srgbClr val="8FB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4709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8F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500" dirty="0">
                <a:solidFill>
                  <a:srgbClr val="DC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[Golf Swing Classification]    •    Kenzie   ·   Mihir   ·   Sparsh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35608" y="987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golf-swing audio, and why TinyML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1508760"/>
            <a:ext cx="5669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Golfers get almost no objective feedback on contact quality.</a:t>
            </a:r>
            <a:endParaRPr lang="en-US" sz="1550" dirty="0"/>
          </a:p>
          <a:p>
            <a:pPr marL="0" indent="0"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sound of impact carries it — a clean strike, a fat “ground” hit, and a thin “topped” shot each have a distinct acoustic signature. We classify that sound in real time.</a:t>
            </a:r>
            <a:endParaRPr lang="en-US" sz="15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TinyML fits: always-on and battery-powered, mounts on the club or bag, gives instant feedback with no phone or cloud, keeps data private, and runs on ~$30 of hardware.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94360" y="5074920"/>
            <a:ext cx="10927080" cy="777240"/>
          </a:xfrm>
          <a:prstGeom prst="roundRect">
            <a:avLst>
              <a:gd name="adj" fmla="val 10588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514807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criteria:  </a:t>
            </a:r>
            <a:r>
              <a:rPr lang="en-US" sz="13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swing in real time on the board itself — no phone or cloud — within the Nano's 256 KB RAM / 1 MB flash, at or above baseline accuracy.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600200"/>
            <a:ext cx="4983480" cy="914400"/>
          </a:xfrm>
          <a:prstGeom prst="roundRect">
            <a:avLst>
              <a:gd name="adj" fmla="val 90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12280" y="184708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12280" y="1847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406640" y="17465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06640" y="20574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strike — sharp, balanced transient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0" y="2679192"/>
            <a:ext cx="4983480" cy="914400"/>
          </a:xfrm>
          <a:prstGeom prst="roundRect">
            <a:avLst>
              <a:gd name="adj" fmla="val 90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812280" y="2926080"/>
            <a:ext cx="420624" cy="42062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12280" y="2926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406640" y="28254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06640" y="31363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hit — low-frequency thump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0" y="3758184"/>
            <a:ext cx="4983480" cy="914400"/>
          </a:xfrm>
          <a:prstGeom prst="roundRect">
            <a:avLst>
              <a:gd name="adj" fmla="val 90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812280" y="4005072"/>
            <a:ext cx="420624" cy="420624"/>
          </a:xfrm>
          <a:prstGeom prst="ellipse">
            <a:avLst/>
          </a:prstGeom>
          <a:solidFill>
            <a:srgbClr val="4F8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12280" y="4005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406640" y="39044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06640" y="42153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Topped shot — thin, bright “tink”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Task, Data &amp; Metrics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35608" y="987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audio classification on self-collected data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508760"/>
            <a:ext cx="5715000" cy="4526280"/>
          </a:xfrm>
          <a:prstGeom prst="roundRect">
            <a:avLst>
              <a:gd name="adj" fmla="val 1818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73736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audio classification: Good / Ground / Top</a:t>
            </a:r>
            <a:endParaRPr lang="en-US" sz="1200" dirty="0"/>
          </a:p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&amp; INPUT</a:t>
            </a:r>
            <a:endParaRPr lang="en-US" sz="1200" dirty="0"/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PDM microphone — recorded at 48 kHz, resampled to 16 kHz for the model</a:t>
            </a:r>
            <a:endParaRPr lang="en-US" sz="1200" dirty="0"/>
          </a:p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~76 real swing recordings (≈4 min): Good 28 · Ground 24 · Top 24, expanded with a custom augmentation pipeline</a:t>
            </a:r>
            <a:endParaRPr lang="en-US" sz="1200" dirty="0"/>
          </a:p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 PREPROCESSING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train-test — augmented data in the training set only (no leakage). 500 ms window, 250 ms stride, MFE (40 mel bands).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294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29400" y="2011680"/>
            <a:ext cx="493776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12280" y="2157984"/>
            <a:ext cx="310896" cy="310896"/>
          </a:xfrm>
          <a:prstGeom prst="ellipse">
            <a:avLst/>
          </a:prstGeom>
          <a:solidFill>
            <a:srgbClr val="8FB3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269480" y="204825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0" y="204825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+ held-out test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629400" y="2724912"/>
            <a:ext cx="493776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12280" y="2871216"/>
            <a:ext cx="310896" cy="310896"/>
          </a:xfrm>
          <a:prstGeom prst="ellipse">
            <a:avLst/>
          </a:prstGeom>
          <a:solidFill>
            <a:srgbClr val="8FB3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69480" y="27614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F1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0" y="27614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Ground / Top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629400" y="3438144"/>
            <a:ext cx="493776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812280" y="3584448"/>
            <a:ext cx="310896" cy="310896"/>
          </a:xfrm>
          <a:prstGeom prst="ellipse">
            <a:avLst/>
          </a:prstGeom>
          <a:solidFill>
            <a:srgbClr val="8FB3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269480" y="347472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(ROC)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44000" y="34747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629400" y="4151376"/>
            <a:ext cx="493776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812280" y="4297680"/>
            <a:ext cx="310896" cy="310896"/>
          </a:xfrm>
          <a:prstGeom prst="ellipse">
            <a:avLst/>
          </a:prstGeom>
          <a:solidFill>
            <a:srgbClr val="8FB3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269480" y="41879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144000" y="41879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errors fall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629400" y="4983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on-device cost: latency, RAM, and Flash footprint.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35608" y="987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sound in → class out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88036" y="233172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37260" y="2587752"/>
            <a:ext cx="694944" cy="694944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" y="2752344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8036" y="335584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PDM Mic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88036" y="37033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audio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299716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2692908" y="233172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342132" y="2587752"/>
            <a:ext cx="694944" cy="694944"/>
          </a:xfrm>
          <a:prstGeom prst="ellipse">
            <a:avLst/>
          </a:prstGeom>
          <a:solidFill>
            <a:srgbClr val="4F8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6724" y="275234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92908" y="335584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Windowing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692908" y="37033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ms / 250 ms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704588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5097780" y="233172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747004" y="2587752"/>
            <a:ext cx="694944" cy="694944"/>
          </a:xfrm>
          <a:prstGeom prst="ellipse">
            <a:avLst/>
          </a:prstGeom>
          <a:solidFill>
            <a:srgbClr val="8FB33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596" y="275234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97780" y="335584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097780" y="37033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mel bands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10946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</a:rPr>
              <a:t>→</a:t>
            </a:r>
            <a:endParaRPr lang="en-US" sz="2600" dirty="0"/>
          </a:p>
        </p:txBody>
      </p:sp>
      <p:sp>
        <p:nvSpPr>
          <p:cNvPr id="24" name="Shape 18"/>
          <p:cNvSpPr/>
          <p:nvPr/>
        </p:nvSpPr>
        <p:spPr>
          <a:xfrm>
            <a:off x="7502652" y="233172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151876" y="2587752"/>
            <a:ext cx="694944" cy="694944"/>
          </a:xfrm>
          <a:prstGeom prst="ellipse">
            <a:avLst/>
          </a:prstGeom>
          <a:solidFill>
            <a:srgbClr val="4F8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468" y="2752344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02652" y="335584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CNN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502652" y="37033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classifier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514332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</a:rPr>
              <a:t>→</a:t>
            </a:r>
            <a:endParaRPr lang="en-US" sz="2600" dirty="0"/>
          </a:p>
        </p:txBody>
      </p:sp>
      <p:sp>
        <p:nvSpPr>
          <p:cNvPr id="30" name="Shape 23"/>
          <p:cNvSpPr/>
          <p:nvPr/>
        </p:nvSpPr>
        <p:spPr>
          <a:xfrm>
            <a:off x="9907524" y="233172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0556748" y="2587752"/>
            <a:ext cx="694944" cy="694944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1340" y="2752344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907524" y="335584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9907524" y="37033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Ground / Top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94360" y="4663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stages run on-device on the Arduino Nano 33 BLE Sense — nothing leaves the board.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ML Model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35608" y="987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Full-precision Keras model trained in Edge Impulse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155448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1938528"/>
            <a:ext cx="5760720" cy="457200"/>
          </a:xfrm>
          <a:prstGeom prst="roundRect">
            <a:avLst>
              <a:gd name="adj" fmla="val 180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9385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MFE features (1,960)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4360" y="2487168"/>
            <a:ext cx="5760720" cy="457200"/>
          </a:xfrm>
          <a:prstGeom prst="roundRect">
            <a:avLst>
              <a:gd name="adj" fmla="val 18000"/>
            </a:avLst>
          </a:prstGeom>
          <a:solidFill>
            <a:srgbClr val="EAF0E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24871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— 40 columns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4360" y="3035808"/>
            <a:ext cx="5760720" cy="457200"/>
          </a:xfrm>
          <a:prstGeom prst="roundRect">
            <a:avLst>
              <a:gd name="adj" fmla="val 180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0358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Conv / Pool — 8 filters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94360" y="3584448"/>
            <a:ext cx="5760720" cy="457200"/>
          </a:xfrm>
          <a:prstGeom prst="roundRect">
            <a:avLst>
              <a:gd name="adj" fmla="val 18000"/>
            </a:avLst>
          </a:prstGeom>
          <a:solidFill>
            <a:srgbClr val="EAF0E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35844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0.25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4360" y="4133088"/>
            <a:ext cx="5760720" cy="457200"/>
          </a:xfrm>
          <a:prstGeom prst="roundRect">
            <a:avLst>
              <a:gd name="adj" fmla="val 180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" y="413308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Conv / Pool — 16 filters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94360" y="4681728"/>
            <a:ext cx="5760720" cy="457200"/>
          </a:xfrm>
          <a:prstGeom prst="roundRect">
            <a:avLst>
              <a:gd name="adj" fmla="val 18000"/>
            </a:avLst>
          </a:prstGeom>
          <a:solidFill>
            <a:srgbClr val="EAF0E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46817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0.25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94360" y="5230368"/>
            <a:ext cx="5760720" cy="457200"/>
          </a:xfrm>
          <a:prstGeom prst="roundRect">
            <a:avLst>
              <a:gd name="adj" fmla="val 180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68680" y="52303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→ Dense (3 classes)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720840" y="1783080"/>
            <a:ext cx="4846320" cy="1737360"/>
          </a:xfrm>
          <a:prstGeom prst="roundRect">
            <a:avLst>
              <a:gd name="adj" fmla="val 4737"/>
            </a:avLst>
          </a:prstGeom>
          <a:solidFill>
            <a:srgbClr val="2C5F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720840" y="19659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88.8%</a:t>
            </a:r>
            <a:endParaRPr lang="en-US" sz="5000" dirty="0"/>
          </a:p>
        </p:txBody>
      </p:sp>
      <p:sp>
        <p:nvSpPr>
          <p:cNvPr id="23" name="Text 20"/>
          <p:cNvSpPr/>
          <p:nvPr/>
        </p:nvSpPr>
        <p:spPr>
          <a:xfrm>
            <a:off x="6720840" y="2834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 ·  74.5% held-out test  (float32)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720840" y="3749040"/>
            <a:ext cx="4846320" cy="2286000"/>
          </a:xfrm>
          <a:prstGeom prst="roundRect">
            <a:avLst>
              <a:gd name="adj" fmla="val 36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995160" y="3950208"/>
            <a:ext cx="4343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1D-CNN over MFE spectrogram features — well suited to short, transient impact sounds and small enough to compress for the target board.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100 cycles, learning rate 0.005, with audio data augmentation enabled.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TinyML Deployment Pipeline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35608" y="987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float32 Keras to a flashed Arduino library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16052" y="1828800"/>
            <a:ext cx="1755648" cy="1143000"/>
          </a:xfrm>
          <a:prstGeom prst="roundRect">
            <a:avLst>
              <a:gd name="adj" fmla="val 72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2578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B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6052" y="221284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 DSP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153412" y="21945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336292" y="1828800"/>
            <a:ext cx="1755648" cy="1143000"/>
          </a:xfrm>
          <a:prstGeom prst="roundRect">
            <a:avLst>
              <a:gd name="adj" fmla="val 72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44602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B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336292" y="221284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model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73652" y="21945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56532" y="1828800"/>
            <a:ext cx="1755648" cy="1143000"/>
          </a:xfrm>
          <a:prstGeom prst="roundRect">
            <a:avLst>
              <a:gd name="adj" fmla="val 7200"/>
            </a:avLst>
          </a:prstGeom>
          <a:solidFill>
            <a:srgbClr val="D9A441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6626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256532" y="221284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PTQ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93892" y="21945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76772" y="1828800"/>
            <a:ext cx="1755648" cy="1143000"/>
          </a:xfrm>
          <a:prstGeom prst="roundRect">
            <a:avLst>
              <a:gd name="adj" fmla="val 72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8650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B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176772" y="221284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914132" y="21945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097012" y="1828800"/>
            <a:ext cx="1755648" cy="1143000"/>
          </a:xfrm>
          <a:prstGeom prst="roundRect">
            <a:avLst>
              <a:gd name="adj" fmla="val 72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0674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B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097012" y="221284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834372" y="21945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017252" y="1828800"/>
            <a:ext cx="1755648" cy="1143000"/>
          </a:xfrm>
          <a:prstGeom prst="roundRect">
            <a:avLst>
              <a:gd name="adj" fmla="val 72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12698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B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0017252" y="221284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→ flash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280160" y="3520440"/>
            <a:ext cx="3017520" cy="2103120"/>
          </a:xfrm>
          <a:prstGeom prst="roundRect">
            <a:avLst>
              <a:gd name="adj" fmla="val 3913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28016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 ms</a:t>
            </a:r>
            <a:endParaRPr lang="en-US" sz="4000" dirty="0"/>
          </a:p>
        </p:txBody>
      </p:sp>
      <p:sp>
        <p:nvSpPr>
          <p:cNvPr id="31" name="Text 28"/>
          <p:cNvSpPr/>
          <p:nvPr/>
        </p:nvSpPr>
        <p:spPr>
          <a:xfrm>
            <a:off x="1463040" y="4709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window)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663440" y="3520440"/>
            <a:ext cx="3017520" cy="2103120"/>
          </a:xfrm>
          <a:prstGeom prst="roundRect">
            <a:avLst>
              <a:gd name="adj" fmla="val 3913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66344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 KB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4846320" y="4709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RAM used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 256 KB)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8046720" y="3520440"/>
            <a:ext cx="3017520" cy="2103120"/>
          </a:xfrm>
          <a:prstGeom prst="roundRect">
            <a:avLst>
              <a:gd name="adj" fmla="val 3913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04672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75.9 KB</a:t>
            </a:r>
            <a:endParaRPr lang="en-US" sz="4000" dirty="0"/>
          </a:p>
        </p:txBody>
      </p:sp>
      <p:sp>
        <p:nvSpPr>
          <p:cNvPr id="37" name="Text 34"/>
          <p:cNvSpPr/>
          <p:nvPr/>
        </p:nvSpPr>
        <p:spPr>
          <a:xfrm>
            <a:off x="8229600" y="4709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used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 1 MB)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Component: Augmentation Ablation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35608" y="987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data-augmentation pipeline + a controlled ablation study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50392" y="192024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039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423160" y="19933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0392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Aggressive augmentation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+ noise + gain + time-stretch + pitch. Stretching 0.16 s transients mangled the Top class → overfit, poor generalization.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89120" y="169164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45152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4515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217920" y="19933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45152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Gentle augmentation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45152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+ light noise only. Cleaner transients → higher AUC, fewer hard errors. Carried into the final model.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183880" y="169164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439912" y="1920240"/>
            <a:ext cx="457200" cy="457200"/>
          </a:xfrm>
          <a:prstGeom prst="ellipse">
            <a:avLst/>
          </a:prstGeom>
          <a:solidFill>
            <a:srgbClr val="6E7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43991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0012680" y="19933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39912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EON MFE autotune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439912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Auto-picked DSP params. Validation fell ~89% → 69% and smeared the strong classes → reverted to defaults.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94360" y="498348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2C5F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14400" y="50749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must respect the signal — gentle transforms generalized, aggressive ones destroyed short impacts. A 0.5 confidence threshold then gave the honest, comparable test numbers used to pick the final model.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 Model Results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35608" y="987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deployed model, and per-class performance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0972800" cy="1572768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— float32 (#1, original)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 KB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E7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Compressed — int8 (#2, 250 ms)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 KB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E7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— int8 on-device (#3, EON)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 KB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" y="32918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iterations: baseline 500 ms (#1), a lighter 250 ms variant (#2, lowest RAM &amp; latency but accuracy fell), and the final 500 ms model (#3) chosen for best test accuracy. Final flash 75.9 KB; all test numbers at the 0.5 confidence threshold.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94360" y="36576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TEST ACCURACY  — final model (0.5 confidence threshold)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3931920"/>
          <a:ext cx="65836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5"/>
          <p:cNvSpPr/>
          <p:nvPr/>
        </p:nvSpPr>
        <p:spPr>
          <a:xfrm>
            <a:off x="7406640" y="3931920"/>
            <a:ext cx="4160520" cy="1005840"/>
          </a:xfrm>
          <a:prstGeom prst="roundRect">
            <a:avLst>
              <a:gd name="adj" fmla="val 8182"/>
            </a:avLst>
          </a:prstGeom>
          <a:solidFill>
            <a:srgbClr val="2C5F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7406640" y="4023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</a:t>
            </a:r>
            <a:endParaRPr lang="en-US" sz="3800" dirty="0"/>
          </a:p>
        </p:txBody>
      </p:sp>
      <p:sp>
        <p:nvSpPr>
          <p:cNvPr id="12" name="Text 7"/>
          <p:cNvSpPr/>
          <p:nvPr/>
        </p:nvSpPr>
        <p:spPr>
          <a:xfrm>
            <a:off x="8869680" y="4023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ROC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(weighted)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7406640" y="5120640"/>
            <a:ext cx="4160520" cy="914400"/>
          </a:xfrm>
          <a:prstGeom prst="roundRect">
            <a:avLst>
              <a:gd name="adj" fmla="val 9000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7635240" y="519379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model lifts Top from 48% to 60%; </a:t>
            </a:r>
            <a:r>
              <a:rPr lang="en-US" sz="120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&amp; Ground stay strong. Top still overlaps with Good — the remaining ceiling.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Deployment Evidence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35608" y="987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 on the Arduino Nano 33 BLE Sense</a:t>
            </a:r>
            <a:endParaRPr lang="en-US" sz="1300" dirty="0"/>
          </a:p>
        </p:txBody>
      </p:sp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14400" y="1417320"/>
            <a:ext cx="2520086" cy="448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59436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on-device inference — good / ground / top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931920" y="1554480"/>
            <a:ext cx="3611880" cy="4480560"/>
          </a:xfrm>
          <a:prstGeom prst="roundRect">
            <a:avLst>
              <a:gd name="adj" fmla="val 2278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20624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206240" y="219456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#3 — int8, EON-compiled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microphone_continuous sketch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 @ 115200 baud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predicted class + confidence for each 500 ms window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KB tensor arena (activations)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818120" y="1554480"/>
            <a:ext cx="3794760" cy="1005840"/>
          </a:xfrm>
          <a:prstGeom prst="roundRect">
            <a:avLst>
              <a:gd name="adj" fmla="val 8182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046720" y="15544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 ms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9692640" y="15544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 / window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818120" y="2706624"/>
            <a:ext cx="3794760" cy="1005840"/>
          </a:xfrm>
          <a:prstGeom prst="roundRect">
            <a:avLst>
              <a:gd name="adj" fmla="val 8182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046720" y="2706624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8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 KB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9692640" y="2706624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RAM (tensor arena)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818120" y="3858768"/>
            <a:ext cx="3794760" cy="1005840"/>
          </a:xfrm>
          <a:prstGeom prst="roundRect">
            <a:avLst>
              <a:gd name="adj" fmla="val 8182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046720" y="385876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B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75.9 KB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9692640" y="385876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footprint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818120" y="5010912"/>
            <a:ext cx="3794760" cy="1005840"/>
          </a:xfrm>
          <a:prstGeom prst="roundRect">
            <a:avLst>
              <a:gd name="adj" fmla="val 8182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046720" y="501091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int8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9692640" y="501091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quantized, EON-compiled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 &amp; Solutions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35608" y="987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broke, and how we fixed it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1883664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07592" y="17922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Short, variable-length impact clips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592" y="2359152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55064" y="2286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ms window with zero-padding to fit every swing</a:t>
            </a:r>
            <a:endParaRPr lang="en-US" sz="1280" dirty="0"/>
          </a:p>
        </p:txBody>
      </p:sp>
      <p:sp>
        <p:nvSpPr>
          <p:cNvPr id="11" name="Shape 6"/>
          <p:cNvSpPr/>
          <p:nvPr/>
        </p:nvSpPr>
        <p:spPr>
          <a:xfrm>
            <a:off x="6217920" y="164592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EAF0E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883664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31152" y="17922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Validation-to-test generalization gap</a:t>
            </a:r>
            <a:endParaRPr lang="en-US" sz="14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2359152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78624" y="2286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data in the training set only — no leakage</a:t>
            </a:r>
            <a:endParaRPr lang="en-US" sz="1280" dirty="0"/>
          </a:p>
        </p:txBody>
      </p:sp>
      <p:sp>
        <p:nvSpPr>
          <p:cNvPr id="16" name="Shape 9"/>
          <p:cNvSpPr/>
          <p:nvPr/>
        </p:nvSpPr>
        <p:spPr>
          <a:xfrm>
            <a:off x="594360" y="312724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364992"/>
            <a:ext cx="310896" cy="31089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307592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Aggressive aug. mangled Top transients</a:t>
            </a:r>
            <a:endParaRPr lang="en-US" sz="14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592" y="3840480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655064" y="3767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gentle shift + light-noise augmentation</a:t>
            </a:r>
            <a:endParaRPr lang="en-US" sz="1280" dirty="0"/>
          </a:p>
        </p:txBody>
      </p:sp>
      <p:sp>
        <p:nvSpPr>
          <p:cNvPr id="21" name="Shape 12"/>
          <p:cNvSpPr/>
          <p:nvPr/>
        </p:nvSpPr>
        <p:spPr>
          <a:xfrm>
            <a:off x="6217920" y="312724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EAF0E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364992"/>
            <a:ext cx="310896" cy="31089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31152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low-confidence “uncertain” calls</a:t>
            </a:r>
            <a:endParaRPr lang="en-US" sz="14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3840480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278624" y="3767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confidence threshold 0.6 → 0.5</a:t>
            </a:r>
            <a:endParaRPr lang="en-US" sz="1280" dirty="0"/>
          </a:p>
        </p:txBody>
      </p:sp>
      <p:sp>
        <p:nvSpPr>
          <p:cNvPr id="26" name="Shape 15"/>
          <p:cNvSpPr/>
          <p:nvPr/>
        </p:nvSpPr>
        <p:spPr>
          <a:xfrm>
            <a:off x="594360" y="460857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846320"/>
            <a:ext cx="310896" cy="31089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307592" y="4754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MFE autotune degraded separation</a:t>
            </a:r>
            <a:endParaRPr lang="en-US" sz="145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592" y="5321808"/>
            <a:ext cx="256032" cy="256032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1655064" y="52486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Reverted to default DSP parameters</a:t>
            </a:r>
            <a:endParaRPr lang="en-US" sz="1280" dirty="0"/>
          </a:p>
        </p:txBody>
      </p:sp>
      <p:sp>
        <p:nvSpPr>
          <p:cNvPr id="31" name="Shape 18"/>
          <p:cNvSpPr/>
          <p:nvPr/>
        </p:nvSpPr>
        <p:spPr>
          <a:xfrm>
            <a:off x="6217920" y="460857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EAF0E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4846320"/>
            <a:ext cx="310896" cy="310896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931152" y="4754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/ Good acoustic overlap</a:t>
            </a:r>
            <a:endParaRPr lang="en-US" sz="145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5321808"/>
            <a:ext cx="256032" cy="256032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7278624" y="52486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as a data ceiling → collect more real Top swings</a:t>
            </a:r>
            <a:endParaRPr lang="en-US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640080"/>
            <a:ext cx="3657600" cy="3657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548640"/>
            <a:ext cx="713232" cy="713232"/>
          </a:xfrm>
          <a:prstGeom prst="ellipse">
            <a:avLst/>
          </a:prstGeom>
          <a:solidFill>
            <a:srgbClr val="4F8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72237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63040" y="530352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Takeaways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F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40080" y="196596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79.4% test accuracy, AUC 0.93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(95%) and Ground (91%) strong; Top lifted to 60%</a:t>
            </a:r>
            <a:endParaRPr lang="en-US" sz="145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on-device: 11.8 KB RAM, 75.9 KB Flash, 127 ms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4008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F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42976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must respect signal characteristics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leakage-free testing reveals the real number</a:t>
            </a:r>
            <a:endParaRPr lang="en-US" sz="145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Auto-optimization (EON autotune) isn’t always better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720840" y="1783080"/>
            <a:ext cx="4846320" cy="4160520"/>
          </a:xfrm>
          <a:prstGeom prst="roundRect">
            <a:avLst>
              <a:gd name="adj" fmla="val 1978"/>
            </a:avLst>
          </a:prstGeom>
          <a:solidFill>
            <a:srgbClr val="1B352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04088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040880" y="2377440"/>
            <a:ext cx="4206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more real Top swings to break the Top–Good ceiling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results over BLE to a phone for live feedback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swing classes (slice, shank, sweet-spot)</a:t>
            </a:r>
            <a:endParaRPr lang="en-US" sz="145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on-device fine-tuning per golfer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Tools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35608" y="987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tools, and platforms used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65376"/>
            <a:ext cx="310896" cy="310896"/>
          </a:xfrm>
          <a:prstGeom prst="ellipse">
            <a:avLst/>
          </a:prstGeom>
          <a:solidFill>
            <a:srgbClr val="8FB3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371600" y="16459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Impulse Studio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12080" y="1645920"/>
            <a:ext cx="6172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pipeline, MFE DSP, model training, int8 quantization, EON Compiler, Arduino library export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" y="25146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AF0E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2734056"/>
            <a:ext cx="310896" cy="310896"/>
          </a:xfrm>
          <a:prstGeom prst="ellipse">
            <a:avLst/>
          </a:prstGeom>
          <a:solidFill>
            <a:srgbClr val="8FB3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371600" y="25146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Lite for Microcontrollers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12080" y="2514600"/>
            <a:ext cx="6172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int8 inference runtime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" y="338328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68680" y="3602736"/>
            <a:ext cx="310896" cy="310896"/>
          </a:xfrm>
          <a:prstGeom prst="ellipse">
            <a:avLst/>
          </a:prstGeom>
          <a:solidFill>
            <a:srgbClr val="8FB3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71600" y="338328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Nano 33 BLE Sense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212080" y="3383280"/>
            <a:ext cx="6172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 — Cortex-M4F @ 64 MHz, onboard PDM microphone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4360" y="425196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AF0E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68680" y="4471416"/>
            <a:ext cx="310896" cy="310896"/>
          </a:xfrm>
          <a:prstGeom prst="ellipse">
            <a:avLst/>
          </a:prstGeom>
          <a:solidFill>
            <a:srgbClr val="8FB3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371600" y="4251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212080" y="4251960"/>
            <a:ext cx="6172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Self-collected golf-swing audio (Good / Ground / Top), augmented with a custom Python pipeline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512064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1F5E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68680" y="5340096"/>
            <a:ext cx="310896" cy="310896"/>
          </a:xfrm>
          <a:prstGeom prst="ellipse">
            <a:avLst/>
          </a:prstGeom>
          <a:solidFill>
            <a:srgbClr val="8FB3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371600" y="51206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212080" y="5120640"/>
            <a:ext cx="6172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public project — studio.edgeimpulse.com/public/1027938/live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1696</Words>
  <Application>Microsoft Macintosh PowerPoint</Application>
  <PresentationFormat>Widescreen</PresentationFormat>
  <Paragraphs>234</Paragraphs>
  <Slides>12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Golf Swing Sound Classification on the Edge</dc:title>
  <dc:subject>PptxGenJS Presentation</dc:subject>
  <dc:creator>Kenzie</dc:creator>
  <cp:lastModifiedBy>Kenzie Kosatria</cp:lastModifiedBy>
  <cp:revision>3</cp:revision>
  <dcterms:created xsi:type="dcterms:W3CDTF">2026-06-12T22:57:42Z</dcterms:created>
  <dcterms:modified xsi:type="dcterms:W3CDTF">2026-06-12T23:01:23Z</dcterms:modified>
</cp:coreProperties>
</file>